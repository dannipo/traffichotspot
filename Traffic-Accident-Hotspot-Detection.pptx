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5143500" type="screen16x9"/>
  <p:notesSz cx="5143500" cy="9144000"/>
  <p:embeddedFontLst>
    <p:embeddedFont>
      <p:font typeface="Inter" panose="020B0604020202020204" charset="0"/>
      <p:regular r:id="rId12"/>
    </p:embeddedFont>
    <p:embeddedFont>
      <p:font typeface="Inter Bold" panose="020B0604020202020204" charset="0"/>
      <p:regular r:id="rId13"/>
    </p:embeddedFont>
    <p:embeddedFont>
      <p:font typeface="Petrona Bold" panose="020B0604020202020204" charset="0"/>
      <p:regular r:id="rId14"/>
    </p:embeddedFont>
    <p:embeddedFont>
      <p:font typeface="Petrona Light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8910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D60C52-746F-AEB6-E431-559BF499187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74000" y="4757605"/>
            <a:ext cx="1227023" cy="34291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66924"/>
            <a:ext cx="4722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Traffic Accident Hotspot Detection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3925119" y="2609850"/>
            <a:ext cx="4722763" cy="1066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HDBSCAN Clustering to identify accident-prone locations from geospatial crash data.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Group Members: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Nicole Cherop · Danni Podho · Albert Ngotho · Trina Kinyua · Kian Muchemi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15913"/>
            <a:ext cx="4722763" cy="886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Introduction &amp; Problem Statement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595810"/>
            <a:ext cx="4722763" cy="14515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55430" y="1749921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Background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155430" y="2048768"/>
            <a:ext cx="4338340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 traffic accidents are a major public safety concern, causing injuries, fatalities, and economic losses. Identifying accident-prone locations enables authorities to improve road safety, allocate resources effectively, and support informed decision-making.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3176067"/>
            <a:ext cx="4722763" cy="145152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55430" y="3330178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155430" y="3629025"/>
            <a:ext cx="4338340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Analyzing thousands of accident records manually is difficult and time-consuming. This project applies the </a:t>
            </a:r>
            <a:r>
              <a:rPr lang="en-US" sz="10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HDBSCAN</a:t>
            </a: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machine learning clustering algorithm to automatically identify traffic accident hotspots using the geographical locations of crashes.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1169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Objectives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40984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General Objective: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identify traffic accident hotspots using the HDBSCAN clustering algorithm.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96132"/>
            <a:ext cx="4004965" cy="12721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13508" y="1902470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56927" y="236309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Collect &amp; Preprocess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56927" y="2680692"/>
            <a:ext cx="36833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and preprocess traffic crash data.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1796132"/>
            <a:ext cx="4005039" cy="12721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60232" y="1902470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803651" y="236309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Clean &amp; Validate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803651" y="2680692"/>
            <a:ext cx="3683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and validate geographical coordinates.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210074"/>
            <a:ext cx="4004965" cy="127218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13508" y="3316412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56927" y="3777035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Detect Hotspots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56927" y="4094634"/>
            <a:ext cx="36833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accident hotspots using HDBSCAN.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3210074"/>
            <a:ext cx="4005039" cy="127218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60232" y="3316412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803651" y="3777035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Visualize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4803651" y="4094634"/>
            <a:ext cx="3683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 identified hotspots on an interactive map.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4997"/>
            <a:ext cx="5483498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&amp; Data Preprocessing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394520"/>
            <a:ext cx="382927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Source: Chicago Traffic Crashes Dataset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96119" y="1768822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 include: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123182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Crash Date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Latitude &amp; Longitude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 &amp; Lighting Conditions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Posted Speed Limit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Crash Type &amp; Injury Information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394520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Preprocessing Steps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1793602"/>
            <a:ext cx="212601" cy="2126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10398" y="1786533"/>
            <a:ext cx="34422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Filtered crashes from </a:t>
            </a:r>
            <a:r>
              <a:rPr lang="en-US" sz="11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2024 onwards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2509465"/>
            <a:ext cx="212601" cy="21260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0398" y="2502396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Removed records with </a:t>
            </a:r>
            <a:r>
              <a:rPr lang="en-US" sz="11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missing or invalid coordinates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3246611"/>
            <a:ext cx="212601" cy="2126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10398" y="3239542"/>
            <a:ext cx="34422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Converted dates to </a:t>
            </a:r>
            <a:r>
              <a:rPr lang="en-US" sz="11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datetime format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3962474"/>
            <a:ext cx="212601" cy="21260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10398" y="3955405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Converted GPS to </a:t>
            </a:r>
            <a:r>
              <a:rPr lang="en-US" sz="11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UTM projection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accurate distance calculations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2300"/>
            <a:ext cx="3538910" cy="385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Methodology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01911"/>
            <a:ext cx="815176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follows a structured workflow from raw crash data through preprocessing, clustering, and visualization to produce actionable hotspot maps.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6119" y="1454572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96119" y="1639788"/>
            <a:ext cx="2652415" cy="14288"/>
          </a:xfrm>
          <a:prstGeom prst="rect">
            <a:avLst/>
          </a:prstGeom>
          <a:solidFill>
            <a:srgbClr val="9A81D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6" name="Text 4"/>
          <p:cNvSpPr/>
          <p:nvPr/>
        </p:nvSpPr>
        <p:spPr>
          <a:xfrm>
            <a:off x="496119" y="1727002"/>
            <a:ext cx="154081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Traffic Crash 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45718" y="1454572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5718" y="1639788"/>
            <a:ext cx="2652489" cy="14288"/>
          </a:xfrm>
          <a:prstGeom prst="rect">
            <a:avLst/>
          </a:prstGeom>
          <a:solidFill>
            <a:srgbClr val="9A81D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9" name="Text 7"/>
          <p:cNvSpPr/>
          <p:nvPr/>
        </p:nvSpPr>
        <p:spPr>
          <a:xfrm>
            <a:off x="3245718" y="1727002"/>
            <a:ext cx="154081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95392" y="1454572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95392" y="1639788"/>
            <a:ext cx="2652415" cy="14288"/>
          </a:xfrm>
          <a:prstGeom prst="rect">
            <a:avLst/>
          </a:prstGeom>
          <a:solidFill>
            <a:srgbClr val="9A81D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2" name="Text 10"/>
          <p:cNvSpPr/>
          <p:nvPr/>
        </p:nvSpPr>
        <p:spPr>
          <a:xfrm>
            <a:off x="5995392" y="1727002"/>
            <a:ext cx="1569244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Coordinate Validation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6119" y="2104802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6119" y="2278261"/>
            <a:ext cx="2652415" cy="14288"/>
          </a:xfrm>
          <a:prstGeom prst="rect">
            <a:avLst/>
          </a:prstGeom>
          <a:solidFill>
            <a:srgbClr val="9A81D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5" name="Text 13"/>
          <p:cNvSpPr/>
          <p:nvPr/>
        </p:nvSpPr>
        <p:spPr>
          <a:xfrm>
            <a:off x="496119" y="2377232"/>
            <a:ext cx="1694929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GeoDataFrame Creation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5718" y="2104802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45718" y="2278261"/>
            <a:ext cx="2652489" cy="14288"/>
          </a:xfrm>
          <a:prstGeom prst="rect">
            <a:avLst/>
          </a:prstGeom>
          <a:solidFill>
            <a:srgbClr val="9A81D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8" name="Text 16"/>
          <p:cNvSpPr/>
          <p:nvPr/>
        </p:nvSpPr>
        <p:spPr>
          <a:xfrm>
            <a:off x="3245718" y="2377232"/>
            <a:ext cx="154081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HDBSCAN Clustering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95392" y="2104802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95392" y="2278261"/>
            <a:ext cx="2652415" cy="14288"/>
          </a:xfrm>
          <a:prstGeom prst="rect">
            <a:avLst/>
          </a:prstGeom>
          <a:solidFill>
            <a:srgbClr val="9A81D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21" name="Text 19"/>
          <p:cNvSpPr/>
          <p:nvPr/>
        </p:nvSpPr>
        <p:spPr>
          <a:xfrm>
            <a:off x="5995392" y="2377232"/>
            <a:ext cx="158048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Hotspot Identification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6119" y="2755032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6119" y="2916808"/>
            <a:ext cx="8151688" cy="14288"/>
          </a:xfrm>
          <a:prstGeom prst="rect">
            <a:avLst/>
          </a:prstGeom>
          <a:solidFill>
            <a:srgbClr val="9A81D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24" name="Text 22"/>
          <p:cNvSpPr/>
          <p:nvPr/>
        </p:nvSpPr>
        <p:spPr>
          <a:xfrm>
            <a:off x="496119" y="3027462"/>
            <a:ext cx="2090291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Interactive Map Visualization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6119" y="3453854"/>
            <a:ext cx="199801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HDBSCAN?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6119" y="3757017"/>
            <a:ext cx="4027289" cy="415900"/>
          </a:xfrm>
          <a:prstGeom prst="roundRect">
            <a:avLst>
              <a:gd name="adj" fmla="val 11856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Text 25"/>
          <p:cNvSpPr/>
          <p:nvPr/>
        </p:nvSpPr>
        <p:spPr>
          <a:xfrm>
            <a:off x="618232" y="3914329"/>
            <a:ext cx="378306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not require specifying the number of clusters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20592" y="3757017"/>
            <a:ext cx="4027289" cy="415900"/>
          </a:xfrm>
          <a:prstGeom prst="roundRect">
            <a:avLst>
              <a:gd name="adj" fmla="val 11856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9" name="Text 27"/>
          <p:cNvSpPr/>
          <p:nvPr/>
        </p:nvSpPr>
        <p:spPr>
          <a:xfrm>
            <a:off x="4742706" y="3914329"/>
            <a:ext cx="378306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clusters of varying densities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6119" y="4270102"/>
            <a:ext cx="4027289" cy="415900"/>
          </a:xfrm>
          <a:prstGeom prst="roundRect">
            <a:avLst>
              <a:gd name="adj" fmla="val 11856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1" name="Text 29"/>
          <p:cNvSpPr/>
          <p:nvPr/>
        </p:nvSpPr>
        <p:spPr>
          <a:xfrm>
            <a:off x="618232" y="4427413"/>
            <a:ext cx="378306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isolated crashes as noise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20592" y="4270102"/>
            <a:ext cx="4027289" cy="415900"/>
          </a:xfrm>
          <a:prstGeom prst="roundRect">
            <a:avLst>
              <a:gd name="adj" fmla="val 11856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3" name="Text 31"/>
          <p:cNvSpPr/>
          <p:nvPr/>
        </p:nvSpPr>
        <p:spPr>
          <a:xfrm>
            <a:off x="4742706" y="4427413"/>
            <a:ext cx="378306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Suitable for large geospatial datasets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03188"/>
            <a:ext cx="5183237" cy="293712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13772" y="652686"/>
            <a:ext cx="1652736" cy="249882"/>
          </a:xfrm>
          <a:prstGeom prst="roundRect">
            <a:avLst>
              <a:gd name="adj" fmla="val 18169"/>
            </a:avLst>
          </a:prstGeom>
          <a:solidFill>
            <a:srgbClr val="1C113B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4" name="Text 1"/>
          <p:cNvSpPr/>
          <p:nvPr/>
        </p:nvSpPr>
        <p:spPr>
          <a:xfrm>
            <a:off x="6094809" y="693167"/>
            <a:ext cx="1947863" cy="1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MODEL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013772" y="954063"/>
            <a:ext cx="2638797" cy="886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HDBSCAN Clustering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6013772" y="1892275"/>
            <a:ext cx="22306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Parameters Used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13772" y="2242617"/>
            <a:ext cx="2638797" cy="723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min_samples</a:t>
            </a: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15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min_cluster_size</a:t>
            </a: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100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Distance Metric</a:t>
            </a: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Euclidean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13772" y="3094732"/>
            <a:ext cx="22306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Output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13772" y="3445073"/>
            <a:ext cx="2638797" cy="1145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accident is assigned to a cluster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 </a:t>
            </a:r>
            <a:r>
              <a:rPr lang="en-US" sz="10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-1</a:t>
            </a: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represents isolated crashes (noise)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other clusters represent accident hotspots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434950"/>
            <a:ext cx="2899321" cy="30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Clustering Results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3925119" y="878235"/>
            <a:ext cx="4722763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371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675933" y="1277541"/>
            <a:ext cx="1221060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Hotspots Identified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925119" y="1466776"/>
            <a:ext cx="472276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Approximately 371 accident hotspots detected across the dataset.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3925119" y="1758553"/>
            <a:ext cx="4722763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1,009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675933" y="2157859"/>
            <a:ext cx="1221060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Largest Hotspot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925119" y="2347094"/>
            <a:ext cx="472276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largest hotspot contained 1,009 crashes.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925119" y="2638871"/>
            <a:ext cx="4722763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229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675933" y="3038177"/>
            <a:ext cx="1221060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Average Hotspot Size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925119" y="3227412"/>
            <a:ext cx="472276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hotspot size was about 229 crashes.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925119" y="3519190"/>
            <a:ext cx="4722763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55,601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675933" y="3918496"/>
            <a:ext cx="1221060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Isolated Incidents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925119" y="4107731"/>
            <a:ext cx="472276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55,601 crashes were classified as isolated incidents (noise).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3925119" y="4299645"/>
            <a:ext cx="4722763" cy="408831"/>
          </a:xfrm>
          <a:prstGeom prst="roundRect">
            <a:avLst>
              <a:gd name="adj" fmla="val 9558"/>
            </a:avLst>
          </a:prstGeom>
          <a:solidFill>
            <a:srgbClr val="2F1D63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136" y="4420195"/>
            <a:ext cx="116235" cy="9301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227388" y="4383881"/>
            <a:ext cx="4327475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clusters represent areas with consistently high crash frequencies, while noise points represent isolated accidents.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7938"/>
            <a:ext cx="5188148" cy="4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Accident Hotspot Visualization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999708" y="1103263"/>
            <a:ext cx="21143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Map Interpretation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9708" y="1436861"/>
            <a:ext cx="2652861" cy="9824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97352" y="1577355"/>
            <a:ext cx="16571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Colored Points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197352" y="1896889"/>
            <a:ext cx="2314724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color represents a different accident hotspot cluster.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9708" y="2531715"/>
            <a:ext cx="2652861" cy="9824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97352" y="2672209"/>
            <a:ext cx="16571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Grey Points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197352" y="2991743"/>
            <a:ext cx="2314724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Grey points represent isolated crashes classified as noise.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9708" y="3626569"/>
            <a:ext cx="2652861" cy="98241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97352" y="3767063"/>
            <a:ext cx="16571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High Concentrations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6197352" y="4086597"/>
            <a:ext cx="2314724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map clearly highlights areas with high accident concentrations.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10629"/>
            <a:ext cx="4004146" cy="44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147167"/>
            <a:ext cx="303981" cy="303981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2"/>
          <p:cNvSpPr/>
          <p:nvPr/>
        </p:nvSpPr>
        <p:spPr>
          <a:xfrm>
            <a:off x="928836" y="1193602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Successful Detection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28836" y="1492448"/>
            <a:ext cx="429004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HDBSCAN successfully identified accident hotspots from over </a:t>
            </a:r>
            <a:r>
              <a:rPr lang="en-US" sz="10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140,000</a:t>
            </a: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traffic crash records.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96119" y="2172221"/>
            <a:ext cx="303981" cy="303981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8" name="Text 5"/>
          <p:cNvSpPr/>
          <p:nvPr/>
        </p:nvSpPr>
        <p:spPr>
          <a:xfrm>
            <a:off x="928836" y="2218655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Clear Distinction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28836" y="2517502"/>
            <a:ext cx="429004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distinguished dense accident regions from isolated crashes.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96119" y="3197275"/>
            <a:ext cx="303981" cy="303981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1" name="Text 8"/>
          <p:cNvSpPr/>
          <p:nvPr/>
        </p:nvSpPr>
        <p:spPr>
          <a:xfrm>
            <a:off x="928836" y="3243709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Actionable Insights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28836" y="3542556"/>
            <a:ext cx="429004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visualization improved interpretation of results. Findings can support </a:t>
            </a:r>
            <a:r>
              <a:rPr lang="en-US" sz="10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road safety planning</a:t>
            </a: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urban decision-making.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96119" y="4109665"/>
            <a:ext cx="4722763" cy="523131"/>
          </a:xfrm>
          <a:prstGeom prst="roundRect">
            <a:avLst>
              <a:gd name="adj" fmla="val 10848"/>
            </a:avLst>
          </a:prstGeom>
          <a:solidFill>
            <a:srgbClr val="2F1D63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80" y="4298305"/>
            <a:ext cx="168846" cy="1350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35087" y="4272111"/>
            <a:ext cx="460593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You!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Questions &amp; Discussion welcome.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513</Words>
  <Application>Microsoft Office PowerPoint</Application>
  <PresentationFormat>On-screen Show (16:9)</PresentationFormat>
  <Paragraphs>105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Inter</vt:lpstr>
      <vt:lpstr>Petrona Light</vt:lpstr>
      <vt:lpstr>Inter Bold</vt:lpstr>
      <vt:lpstr>Petrona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Nicole Cherop</cp:lastModifiedBy>
  <cp:revision>2</cp:revision>
  <dcterms:created xsi:type="dcterms:W3CDTF">2026-07-05T18:25:01Z</dcterms:created>
  <dcterms:modified xsi:type="dcterms:W3CDTF">2026-07-05T18:48:23Z</dcterms:modified>
</cp:coreProperties>
</file>